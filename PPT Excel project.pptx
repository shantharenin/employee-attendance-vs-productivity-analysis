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Arial Black" panose="020B0A04020102020204" pitchFamily="34" charset="0"/>
      <p:bold r:id="rId10"/>
    </p:embeddedFont>
    <p:embeddedFont>
      <p:font typeface="Sora" panose="020B0604020202020204" charset="0"/>
      <p:regular r:id="rId11"/>
    </p:embeddedFont>
    <p:embeddedFont>
      <p:font typeface="Sora Light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9434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580005"/>
            <a:ext cx="1173450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kern="100" spc="96" dirty="0">
                <a:solidFill>
                  <a:srgbClr val="006ACC"/>
                </a:solidFill>
                <a:latin typeface="Arial Black" panose="020B0A04020102020204" pitchFamily="34" charset="0"/>
                <a:ea typeface="Sora" pitchFamily="34" charset="-122"/>
                <a:cs typeface="Sora" pitchFamily="34" charset="0"/>
              </a:rPr>
              <a:t>PROJECT TOPIC</a:t>
            </a:r>
            <a:endParaRPr lang="en-US" sz="1600" b="1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189" y="2974320"/>
            <a:ext cx="11277318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0"/>
              </a:rPr>
              <a:t>Employee Attendance vs Productivity Analysis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740138"/>
            <a:ext cx="10769331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0"/>
              </a:rPr>
              <a:t>Index</a:t>
            </a:r>
            <a:endParaRPr lang="en-US" sz="4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751947"/>
              </p:ext>
            </p:extLst>
          </p:nvPr>
        </p:nvGraphicFramePr>
        <p:xfrm>
          <a:off x="741145" y="2551311"/>
          <a:ext cx="10739368" cy="2590936"/>
        </p:xfrm>
        <a:graphic>
          <a:graphicData uri="http://schemas.openxmlformats.org/drawingml/2006/table">
            <a:tbl>
              <a:tblPr/>
              <a:tblGrid>
                <a:gridCol w="1908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8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A3A5C"/>
                          </a:solidFill>
                          <a:latin typeface="Arial Black" panose="020B0A04020102020204" pitchFamily="34" charset="0"/>
                          <a:ea typeface="Sora" pitchFamily="34" charset="-122"/>
                          <a:cs typeface="Sora" panose="020B0604020202020204" charset="0"/>
                        </a:rPr>
                        <a:t>S. No.</a:t>
                      </a:r>
                      <a:endParaRPr lang="en-US" sz="1600" b="1" dirty="0">
                        <a:latin typeface="Arial Black" panose="020B0A04020102020204" pitchFamily="34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A3A5C"/>
                          </a:solidFill>
                          <a:latin typeface="Arial Black" panose="020B0A04020102020204" pitchFamily="34" charset="0"/>
                          <a:ea typeface="Sora" pitchFamily="34" charset="-122"/>
                          <a:cs typeface="Sora" panose="020B0604020202020204" charset="0"/>
                        </a:rPr>
                        <a:t>Topics</a:t>
                      </a:r>
                      <a:endParaRPr lang="en-US" sz="1600" b="1" dirty="0">
                        <a:latin typeface="Arial Black" panose="020B0A04020102020204" pitchFamily="34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8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  <a:ea typeface="Sora" pitchFamily="34" charset="-122"/>
                          <a:cs typeface="Sora" panose="020B0604020202020204" charset="0"/>
                        </a:rPr>
                        <a:t>1</a:t>
                      </a:r>
                      <a:endParaRPr lang="en-US" sz="1600" b="1" dirty="0">
                        <a:latin typeface="Arial Black" panose="020B0A04020102020204" pitchFamily="34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  <a:ea typeface="Sora" pitchFamily="34" charset="-122"/>
                          <a:cs typeface="Sora" panose="020B0604020202020204" charset="0"/>
                        </a:rPr>
                        <a:t>Understanding the Project</a:t>
                      </a:r>
                      <a:endParaRPr lang="en-US" sz="1600" b="1" dirty="0">
                        <a:latin typeface="Arial Black" panose="020B0A04020102020204" pitchFamily="34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8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  <a:ea typeface="Sora" pitchFamily="34" charset="-122"/>
                          <a:cs typeface="Sora" panose="020B0604020202020204" charset="0"/>
                        </a:rPr>
                        <a:t>2</a:t>
                      </a:r>
                      <a:endParaRPr lang="en-US" sz="1600" b="1" dirty="0">
                        <a:latin typeface="Arial Black" panose="020B0A04020102020204" pitchFamily="34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  <a:ea typeface="Sora" pitchFamily="34" charset="-122"/>
                          <a:cs typeface="Sora" panose="020B0604020202020204" charset="0"/>
                        </a:rPr>
                        <a:t>Why This Analysis Matters</a:t>
                      </a:r>
                      <a:endParaRPr lang="en-US" sz="1600" b="1" dirty="0">
                        <a:latin typeface="Arial Black" panose="020B0A04020102020204" pitchFamily="34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8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  <a:ea typeface="Sora" pitchFamily="34" charset="-122"/>
                          <a:cs typeface="Sora" panose="020B0604020202020204" charset="0"/>
                        </a:rPr>
                        <a:t>3</a:t>
                      </a:r>
                      <a:endParaRPr lang="en-US" sz="1600" b="1" dirty="0">
                        <a:latin typeface="Arial Black" panose="020B0A04020102020204" pitchFamily="34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  <a:ea typeface="Sora" pitchFamily="34" charset="-122"/>
                          <a:cs typeface="Sora" panose="020B0604020202020204" charset="0"/>
                        </a:rPr>
                        <a:t>From Raw Data to Insights</a:t>
                      </a:r>
                      <a:endParaRPr lang="en-US" sz="1600" b="1" dirty="0">
                        <a:latin typeface="Arial Black" panose="020B0A04020102020204" pitchFamily="34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8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  <a:ea typeface="Sora" pitchFamily="34" charset="-122"/>
                          <a:cs typeface="Sora" panose="020B0604020202020204" charset="0"/>
                        </a:rPr>
                        <a:t>4</a:t>
                      </a:r>
                      <a:endParaRPr lang="en-US" sz="1600" b="1" dirty="0">
                        <a:latin typeface="Arial Black" panose="020B0A04020102020204" pitchFamily="34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  <a:ea typeface="Sora" pitchFamily="34" charset="-122"/>
                          <a:cs typeface="Sora" panose="020B0604020202020204" charset="0"/>
                        </a:rPr>
                        <a:t>What the Numbers Reveal</a:t>
                      </a:r>
                      <a:endParaRPr lang="en-US" sz="1600" b="1" dirty="0">
                        <a:latin typeface="Arial Black" panose="020B0A04020102020204" pitchFamily="34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5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  <a:ea typeface="Sora" pitchFamily="34" charset="-122"/>
                          <a:cs typeface="Sora" panose="020B0604020202020204" charset="0"/>
                        </a:rPr>
                        <a:t>5</a:t>
                      </a:r>
                      <a:endParaRPr lang="en-US" sz="1600" b="1" dirty="0">
                        <a:latin typeface="Arial Black" panose="020B0A04020102020204" pitchFamily="34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  <a:ea typeface="Sora" pitchFamily="34" charset="-122"/>
                          <a:cs typeface="Sora" panose="020B0604020202020204" charset="0"/>
                        </a:rPr>
                        <a:t>Moving Towards Better Workforce Performance</a:t>
                      </a:r>
                      <a:endParaRPr lang="en-US" sz="1600" b="1" dirty="0">
                        <a:latin typeface="Arial Black" panose="020B0A04020102020204" pitchFamily="34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630998"/>
            <a:ext cx="7213420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0"/>
              </a:rPr>
              <a:t>Understanding the Project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189" y="3166467"/>
            <a:ext cx="7213420" cy="2097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Analyses employee attendance and productivity.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Studies absenteeism and task completion.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Compares expected output with actual output.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Covers 8 different departments.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Helps understand the relationship between attendance and work performance.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4348"/>
            <a:ext cx="11277318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0"/>
              </a:rPr>
              <a:t>Why This Analysis Matters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57189" y="1359297"/>
            <a:ext cx="5486263" cy="2368352"/>
          </a:xfrm>
          <a:prstGeom prst="roundRect">
            <a:avLst>
              <a:gd name="adj" fmla="val 483"/>
            </a:avLst>
          </a:prstGeom>
          <a:solidFill>
            <a:srgbClr val="2E6E9E"/>
          </a:solidFill>
          <a:ln w="19050">
            <a:solidFill>
              <a:srgbClr val="2E6E9E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32" y="1606947"/>
            <a:ext cx="444489" cy="444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832" y="2156539"/>
            <a:ext cx="499097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Attendance records are mainly used for payroll and leave tracking.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48244" y="1359297"/>
            <a:ext cx="5486263" cy="2368352"/>
          </a:xfrm>
          <a:prstGeom prst="roundRect">
            <a:avLst>
              <a:gd name="adj" fmla="val 483"/>
            </a:avLst>
          </a:prstGeom>
          <a:solidFill>
            <a:srgbClr val="2E6E9E"/>
          </a:solidFill>
          <a:ln w="19050">
            <a:solidFill>
              <a:srgbClr val="2E6E9E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887" y="1606947"/>
            <a:ext cx="444489" cy="444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5887" y="2156539"/>
            <a:ext cx="499097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The company needs to understand how absenteeism affects productivity.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7189" y="4032448"/>
            <a:ext cx="5486263" cy="2368352"/>
          </a:xfrm>
          <a:prstGeom prst="roundRect">
            <a:avLst>
              <a:gd name="adj" fmla="val 483"/>
            </a:avLst>
          </a:prstGeom>
          <a:solidFill>
            <a:srgbClr val="2E6E9E"/>
          </a:solidFill>
          <a:ln w="19050">
            <a:solidFill>
              <a:srgbClr val="2E6E9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32" y="4280098"/>
            <a:ext cx="444489" cy="444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4832" y="4829691"/>
            <a:ext cx="499097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Employee and department performance differences are difficult to identify.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248244" y="4032448"/>
            <a:ext cx="5486263" cy="2368352"/>
          </a:xfrm>
          <a:prstGeom prst="roundRect">
            <a:avLst>
              <a:gd name="adj" fmla="val 483"/>
            </a:avLst>
          </a:prstGeom>
          <a:solidFill>
            <a:srgbClr val="2E6E9E"/>
          </a:solidFill>
          <a:ln w="19050">
            <a:solidFill>
              <a:srgbClr val="2E6E9E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887" y="4280098"/>
            <a:ext cx="444489" cy="444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95887" y="4829691"/>
            <a:ext cx="499097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The analysis helps management understand attendance and productivity patterns.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584067"/>
            <a:ext cx="11277318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0"/>
              </a:rPr>
              <a:t>From Raw Data to Insights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189" y="2395240"/>
            <a:ext cx="11277318" cy="352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 Black" panose="020B0A04020102020204" pitchFamily="34" charset="0"/>
                <a:ea typeface="Sora" pitchFamily="34" charset="-122"/>
                <a:cs typeface="Sora" panose="020B0604020202020204" charset="0"/>
              </a:rPr>
              <a:t>Collected employee, attendance and productivity data.</a:t>
            </a:r>
            <a:endParaRPr lang="en-US" sz="1600" b="1" dirty="0">
              <a:latin typeface="Arial Black" panose="020B0A04020102020204" pitchFamily="34" charset="0"/>
              <a:cs typeface="Sora" panose="020B0604020202020204" charset="0"/>
            </a:endParaRPr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 Black" panose="020B0A04020102020204" pitchFamily="34" charset="0"/>
                <a:ea typeface="Sora" pitchFamily="34" charset="-122"/>
                <a:cs typeface="Sora" panose="020B0604020202020204" charset="0"/>
              </a:rPr>
              <a:t>Analysed employee-wise and department-wise performance.</a:t>
            </a:r>
            <a:endParaRPr lang="en-US" sz="1600" b="1" dirty="0">
              <a:latin typeface="Arial Black" panose="020B0A04020102020204" pitchFamily="34" charset="0"/>
              <a:cs typeface="Sora" panose="020B0604020202020204" charset="0"/>
            </a:endParaRPr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 Black" panose="020B0A04020102020204" pitchFamily="34" charset="0"/>
                <a:ea typeface="Sora" pitchFamily="34" charset="-122"/>
                <a:cs typeface="Sora" panose="020B0604020202020204" charset="0"/>
              </a:rPr>
              <a:t>Added three calculated columns:</a:t>
            </a:r>
            <a:endParaRPr lang="en-US" sz="1600" b="1" dirty="0">
              <a:latin typeface="Arial Black" panose="020B0A04020102020204" pitchFamily="34" charset="0"/>
              <a:cs typeface="Sora" panose="020B0604020202020204" charset="0"/>
            </a:endParaRPr>
          </a:p>
          <a:p>
            <a:pPr marL="650240" lvl="1" indent="-325120" algn="l">
              <a:lnSpc>
                <a:spcPct val="117000"/>
              </a:lnSpc>
              <a:buSzPct val="100000"/>
              <a:buChar char="◦"/>
            </a:pPr>
            <a:r>
              <a:rPr lang="en-US" sz="1600" b="1" dirty="0">
                <a:solidFill>
                  <a:srgbClr val="000000"/>
                </a:solidFill>
                <a:latin typeface="Arial Black" panose="020B0A04020102020204" pitchFamily="34" charset="0"/>
                <a:ea typeface="Sora" pitchFamily="34" charset="-122"/>
                <a:cs typeface="Sora" panose="020B0604020202020204" charset="0"/>
              </a:rPr>
              <a:t>Task Completion Rate (%)</a:t>
            </a:r>
            <a:endParaRPr lang="en-US" sz="1600" b="1" dirty="0">
              <a:latin typeface="Arial Black" panose="020B0A04020102020204" pitchFamily="34" charset="0"/>
              <a:cs typeface="Sora" panose="020B0604020202020204" charset="0"/>
            </a:endParaRPr>
          </a:p>
          <a:p>
            <a:pPr marL="650240" lvl="1" indent="-325120" algn="l">
              <a:lnSpc>
                <a:spcPct val="117000"/>
              </a:lnSpc>
              <a:buSzPct val="100000"/>
              <a:buChar char="◦"/>
            </a:pPr>
            <a:r>
              <a:rPr lang="en-US" sz="1600" b="1" dirty="0">
                <a:solidFill>
                  <a:srgbClr val="000000"/>
                </a:solidFill>
                <a:latin typeface="Arial Black" panose="020B0A04020102020204" pitchFamily="34" charset="0"/>
                <a:ea typeface="Sora" pitchFamily="34" charset="-122"/>
                <a:cs typeface="Sora" panose="020B0604020202020204" charset="0"/>
              </a:rPr>
              <a:t>Absenteeism Rate (%)</a:t>
            </a:r>
            <a:endParaRPr lang="en-US" sz="1600" b="1" dirty="0">
              <a:latin typeface="Arial Black" panose="020B0A04020102020204" pitchFamily="34" charset="0"/>
              <a:cs typeface="Sora" panose="020B0604020202020204" charset="0"/>
            </a:endParaRPr>
          </a:p>
          <a:p>
            <a:pPr marL="650240" lvl="1" indent="-325120" algn="l">
              <a:lnSpc>
                <a:spcPct val="117000"/>
              </a:lnSpc>
              <a:buSzPct val="100000"/>
              <a:buChar char="◦"/>
            </a:pPr>
            <a:r>
              <a:rPr lang="en-US" sz="1600" b="1" dirty="0">
                <a:solidFill>
                  <a:srgbClr val="000000"/>
                </a:solidFill>
                <a:latin typeface="Arial Black" panose="020B0A04020102020204" pitchFamily="34" charset="0"/>
                <a:ea typeface="Sora" pitchFamily="34" charset="-122"/>
                <a:cs typeface="Sora" panose="020B0604020202020204" charset="0"/>
              </a:rPr>
              <a:t>Output Achievement (%)</a:t>
            </a:r>
            <a:endParaRPr lang="en-US" sz="1600" b="1" dirty="0">
              <a:latin typeface="Arial Black" panose="020B0A04020102020204" pitchFamily="34" charset="0"/>
              <a:cs typeface="Sora" panose="020B0604020202020204" charset="0"/>
            </a:endParaRPr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 Black" panose="020B0A04020102020204" pitchFamily="34" charset="0"/>
                <a:ea typeface="Sora" pitchFamily="34" charset="-122"/>
                <a:cs typeface="Sora" panose="020B0604020202020204" charset="0"/>
              </a:rPr>
              <a:t>Used Excel formulas for calculations.</a:t>
            </a:r>
            <a:endParaRPr lang="en-US" sz="1600" b="1" dirty="0">
              <a:latin typeface="Arial Black" panose="020B0A04020102020204" pitchFamily="34" charset="0"/>
              <a:cs typeface="Sora" panose="020B0604020202020204" charset="0"/>
            </a:endParaRPr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 Black" panose="020B0A04020102020204" pitchFamily="34" charset="0"/>
                <a:ea typeface="Sora" pitchFamily="34" charset="-122"/>
                <a:cs typeface="Sora" panose="020B0604020202020204" charset="0"/>
              </a:rPr>
              <a:t>Created PivotTables and PivotCharts.</a:t>
            </a:r>
            <a:endParaRPr lang="en-US" sz="1600" b="1" dirty="0">
              <a:latin typeface="Arial Black" panose="020B0A04020102020204" pitchFamily="34" charset="0"/>
              <a:cs typeface="Sora" panose="020B0604020202020204" charset="0"/>
            </a:endParaRPr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rial Black" panose="020B0A04020102020204" pitchFamily="34" charset="0"/>
                <a:ea typeface="Sora" pitchFamily="34" charset="-122"/>
                <a:cs typeface="Sora" panose="020B0604020202020204" charset="0"/>
              </a:rPr>
              <a:t>Tools: Excel 2019, PivotTables, PivotCharts and ChatGPT</a:t>
            </a:r>
            <a:r>
              <a:rPr lang="en-US" sz="1600" dirty="0">
                <a:solidFill>
                  <a:srgbClr val="000000"/>
                </a:solidFill>
                <a:latin typeface="Sora" panose="020B0604020202020204" charset="0"/>
                <a:ea typeface="Sora" pitchFamily="34" charset="-122"/>
                <a:cs typeface="Sora" panose="020B0604020202020204" charset="0"/>
              </a:rPr>
              <a:t>.</a:t>
            </a:r>
            <a:endParaRPr lang="en-US" sz="1600" dirty="0">
              <a:latin typeface="Sora" panose="020B0604020202020204" charset="0"/>
              <a:cs typeface="Sora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4348"/>
            <a:ext cx="11277318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0"/>
              </a:rPr>
              <a:t>What the Numbers Reveal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189" y="2290076"/>
            <a:ext cx="541006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0"/>
              </a:rPr>
              <a:t>Key Performance Indicators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3336826"/>
          <a:ext cx="5410065" cy="2158055"/>
        </p:xfrm>
        <a:graphic>
          <a:graphicData uri="http://schemas.openxmlformats.org/drawingml/2006/table">
            <a:tbl>
              <a:tblPr/>
              <a:tblGrid>
                <a:gridCol w="3895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8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0"/>
                        </a:rPr>
                        <a:t>Total Employee Records</a:t>
                      </a:r>
                      <a:endParaRPr lang="en-US" sz="16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0"/>
                        </a:rPr>
                        <a:t>2,000</a:t>
                      </a:r>
                      <a:endParaRPr lang="en-US" sz="16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8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0"/>
                        </a:rPr>
                        <a:t>Average Attendance</a:t>
                      </a:r>
                      <a:endParaRPr lang="en-US" sz="16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0"/>
                        </a:rPr>
                        <a:t>92.63%</a:t>
                      </a:r>
                      <a:endParaRPr lang="en-US" sz="16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8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0"/>
                        </a:rPr>
                        <a:t>Total Absent Days</a:t>
                      </a:r>
                      <a:endParaRPr lang="en-US" sz="16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0"/>
                        </a:rPr>
                        <a:t>2,986</a:t>
                      </a:r>
                      <a:endParaRPr lang="en-US" sz="16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8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0"/>
                        </a:rPr>
                        <a:t>Average Task Completion</a:t>
                      </a:r>
                      <a:endParaRPr lang="en-US" sz="16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0"/>
                        </a:rPr>
                        <a:t>84.37%</a:t>
                      </a:r>
                      <a:endParaRPr lang="en-US" sz="16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5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0"/>
                        </a:rPr>
                        <a:t>Average Output Achievement</a:t>
                      </a:r>
                      <a:endParaRPr lang="en-US" sz="16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0"/>
                        </a:rPr>
                        <a:t>100.52%</a:t>
                      </a:r>
                      <a:endParaRPr lang="en-US" sz="16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B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24442" y="2383937"/>
            <a:ext cx="541006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0"/>
              </a:rPr>
              <a:t>Major Observations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324442" y="2983706"/>
            <a:ext cx="5410065" cy="2417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Sales recorded the highest task completion rate (85.28%).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Finance recorded the lowest task completion rate (82.90%).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Human Resources had the highest average absenteeism.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Operations had the lowest average absenteeism.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Monthly attendance and productivity remained relatively stable.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11897"/>
            <a:ext cx="7619809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0"/>
              </a:rPr>
              <a:t>Moving Towards Better Workforce Performance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189" y="1899551"/>
            <a:ext cx="7619809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2499320"/>
            <a:ext cx="7619809" cy="10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Identified attendance and productivity patterns.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Compared employee and department performance.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0"/>
              </a:rPr>
              <a:t>Identified areas that need improvement.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189" y="3874798"/>
            <a:ext cx="7619809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0A3A5C"/>
                </a:solidFill>
                <a:latin typeface="Sora Light" pitchFamily="34" charset="0"/>
                <a:ea typeface="Sora Light" pitchFamily="34" charset="-122"/>
                <a:cs typeface="Sora Light" pitchFamily="34" charset="0"/>
              </a:rPr>
              <a:t>Suggestions for the Company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189" y="4474567"/>
            <a:ext cx="7619809" cy="200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800" b="1" dirty="0">
                <a:solidFill>
                  <a:srgbClr val="000000"/>
                </a:solidFill>
                <a:latin typeface="Sora" panose="020B0604020202020204" charset="0"/>
                <a:ea typeface="Sora" pitchFamily="34" charset="-122"/>
                <a:cs typeface="Sora" panose="020B0604020202020204" charset="0"/>
              </a:rPr>
              <a:t>Link attendance with productivity to understand the effect of employee absences on work output.</a:t>
            </a:r>
            <a:endParaRPr lang="en-US" sz="1400" b="1" dirty="0">
              <a:latin typeface="Sora" panose="020B0604020202020204" charset="0"/>
              <a:cs typeface="Sora" panose="020B0604020202020204" charset="0"/>
            </a:endParaRPr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800" b="1" dirty="0">
                <a:solidFill>
                  <a:srgbClr val="000000"/>
                </a:solidFill>
                <a:latin typeface="Sora" panose="020B0604020202020204" charset="0"/>
                <a:ea typeface="Sora" pitchFamily="34" charset="-122"/>
                <a:cs typeface="Sora" panose="020B0604020202020204" charset="0"/>
              </a:rPr>
              <a:t>Identify employees or teams with high absenteeism and low productivity and provide necessary support.</a:t>
            </a:r>
            <a:endParaRPr lang="en-US" sz="1400" b="1" dirty="0">
              <a:latin typeface="Sora" panose="020B0604020202020204" charset="0"/>
              <a:cs typeface="Sora" panose="020B0604020202020204" charset="0"/>
            </a:endParaRPr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800" b="1" dirty="0">
                <a:solidFill>
                  <a:srgbClr val="000000"/>
                </a:solidFill>
                <a:latin typeface="Sora" panose="020B0604020202020204" charset="0"/>
                <a:ea typeface="Sora" pitchFamily="34" charset="-122"/>
                <a:cs typeface="Sora" panose="020B0604020202020204" charset="0"/>
              </a:rPr>
              <a:t>Use data-driven reports to improve HR policies and manage workloads effectively.</a:t>
            </a:r>
            <a:endParaRPr lang="en-US" sz="1400" b="1" dirty="0">
              <a:latin typeface="Sora" panose="020B0604020202020204" charset="0"/>
              <a:cs typeface="Sora" panose="020B060402020202020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187" y="0"/>
            <a:ext cx="365750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328</Words>
  <Application>Microsoft Office PowerPoint</Application>
  <PresentationFormat>Widescreen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Sora Light</vt:lpstr>
      <vt:lpstr>Sora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Edward</dc:creator>
  <cp:lastModifiedBy>Edward Samuel</cp:lastModifiedBy>
  <cp:revision>3</cp:revision>
  <dcterms:created xsi:type="dcterms:W3CDTF">2026-10-26T13:41:55Z</dcterms:created>
  <dcterms:modified xsi:type="dcterms:W3CDTF">2026-10-26T13:47:28Z</dcterms:modified>
</cp:coreProperties>
</file>